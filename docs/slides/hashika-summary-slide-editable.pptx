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11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EAF7F5">
              <a:alpha val="92000"/>
            </a:srgbClr>
          </a:solidFill>
          <a:ln w="12700">
            <a:solidFill>
              <a:srgbClr val="EA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30352" y="338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7C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ミニサマリ</a:t>
            </a:r>
            <a:r>
              <a:rPr lang="en-US" sz="1050" b="1" dirty="0">
                <a:solidFill>
                  <a:srgbClr val="0E7C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5852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はしか</a:t>
            </a:r>
            <a:r>
              <a:rPr lang="en-US" sz="2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</a:t>
            </a:r>
            <a:r>
              <a:rPr lang="ja-JP" altLang="en-US" sz="2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麻疹</a:t>
            </a:r>
            <a:r>
              <a:rPr lang="en-US" sz="2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  <a:r>
              <a:rPr lang="ja-JP" altLang="en-US" sz="28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について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092440" y="329184"/>
            <a:ext cx="3566160" cy="768096"/>
          </a:xfrm>
          <a:prstGeom prst="roundRect">
            <a:avLst>
              <a:gd name="adj" fmla="val 7143"/>
            </a:avLst>
          </a:prstGeom>
          <a:solidFill>
            <a:srgbClr val="FFFFFF">
              <a:alpha val="84000"/>
            </a:srgbClr>
          </a:solidFill>
          <a:ln w="15240">
            <a:solidFill>
              <a:srgbClr val="D9E4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75320" y="457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原因ウイルス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275320" y="640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Measles virus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75320" y="90525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現行分類名の例: Measles morbillivirus / Morbillivirus hominis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30352" y="1444752"/>
            <a:ext cx="11137392" cy="0"/>
          </a:xfrm>
          <a:prstGeom prst="line">
            <a:avLst/>
          </a:prstGeom>
          <a:noFill/>
          <a:ln w="15240">
            <a:solidFill>
              <a:srgbClr val="D9E4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30352" y="1737360"/>
            <a:ext cx="276148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17324D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30352" y="1737360"/>
            <a:ext cx="73152" cy="1005840"/>
          </a:xfrm>
          <a:prstGeom prst="rect">
            <a:avLst/>
          </a:prstGeom>
          <a:solidFill>
            <a:srgbClr val="D94835"/>
          </a:solidFill>
          <a:ln w="12700">
            <a:solidFill>
              <a:srgbClr val="D948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68096" y="18562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抗生物質は効かない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21488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ウイルス感染症のため、麻疹ウイルス自体に抗生物質は無効。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" y="2569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細菌性肺炎・中耳炎など合併症では使う場合があります。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401568" y="1737360"/>
            <a:ext cx="276148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17324D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01568" y="1737360"/>
            <a:ext cx="73152" cy="1005840"/>
          </a:xfrm>
          <a:prstGeom prst="rect">
            <a:avLst/>
          </a:prstGeom>
          <a:solidFill>
            <a:srgbClr val="0E7C78"/>
          </a:solidFill>
          <a:ln w="12700">
            <a:solidFill>
              <a:srgbClr val="0E7C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39312" y="18562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主な感染経路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39312" y="21488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空気感染が重要。飛沫・接触でも広がります。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39312" y="256946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空気中や表面で最大2時間感染性を保つことがあります。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30352" y="2834640"/>
            <a:ext cx="276148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17324D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30352" y="2834640"/>
            <a:ext cx="73152" cy="1005840"/>
          </a:xfrm>
          <a:prstGeom prst="rect">
            <a:avLst/>
          </a:prstGeom>
          <a:solidFill>
            <a:srgbClr val="2D70B7"/>
          </a:solidFill>
          <a:ln w="12700">
            <a:solidFill>
              <a:srgbClr val="2D70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68096" y="295351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感染力は非常に強い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8096" y="32461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R0はおおむね12-18。インフルエンザの約10倍が目安。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8096" y="36667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免疫がない濃厚接触者では最大9割が感染するとされます。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401568" y="2834640"/>
            <a:ext cx="276148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17324D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401568" y="2834640"/>
            <a:ext cx="73152" cy="1005840"/>
          </a:xfrm>
          <a:prstGeom prst="rect">
            <a:avLst/>
          </a:prstGeom>
          <a:solidFill>
            <a:srgbClr val="0E7C78"/>
          </a:solidFill>
          <a:ln w="12700">
            <a:solidFill>
              <a:srgbClr val="0E7C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639312" y="295351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予防の要点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39312" y="32461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最も有効な予防はMMR/MRワクチンの2回接種。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39312" y="366674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発疹前から周囲へうつす可能性があります。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30352" y="4005072"/>
            <a:ext cx="1792224" cy="384048"/>
          </a:xfrm>
          <a:prstGeom prst="roundRect">
            <a:avLst>
              <a:gd name="adj" fmla="val 11905"/>
            </a:avLst>
          </a:prstGeom>
          <a:solidFill>
            <a:srgbClr val="EAF7F5"/>
          </a:solidFill>
          <a:ln w="10160">
            <a:solidFill>
              <a:srgbClr val="C9E5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30352" y="411480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C62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空気感染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2432304" y="4005072"/>
            <a:ext cx="1792224" cy="384048"/>
          </a:xfrm>
          <a:prstGeom prst="roundRect">
            <a:avLst>
              <a:gd name="adj" fmla="val 11905"/>
            </a:avLst>
          </a:prstGeom>
          <a:solidFill>
            <a:srgbClr val="EAF7F5"/>
          </a:solidFill>
          <a:ln w="10160">
            <a:solidFill>
              <a:srgbClr val="C9E5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2432304" y="411480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C62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飛沫感染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4334256" y="4005072"/>
            <a:ext cx="1792224" cy="384048"/>
          </a:xfrm>
          <a:prstGeom prst="roundRect">
            <a:avLst>
              <a:gd name="adj" fmla="val 11905"/>
            </a:avLst>
          </a:prstGeom>
          <a:solidFill>
            <a:srgbClr val="EAF7F5"/>
          </a:solidFill>
          <a:ln w="10160">
            <a:solidFill>
              <a:srgbClr val="C9E5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334256" y="411480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C62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接触感染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530352" y="4572000"/>
            <a:ext cx="563270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E4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31520" y="4727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見逃しやすい初期症状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" y="5010912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発熱、咳、鼻水、結膜炎から始まり、2-3日後に口腔内のコプリック斑、その後に全身の発しんが目立ちます。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0" y="1737360"/>
            <a:ext cx="5084064" cy="2578608"/>
          </a:xfrm>
          <a:prstGeom prst="roundRect">
            <a:avLst>
              <a:gd name="adj" fmla="val 1773"/>
            </a:avLst>
          </a:prstGeom>
          <a:solidFill>
            <a:srgbClr val="FFFFFF"/>
          </a:solidFill>
          <a:ln w="1524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17324D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0" descr="C:\Users\grace\umemura-clinic-hp\docs\slides\cdc-measles-koplik-spots.jpg"/>
          <p:cNvPicPr>
            <a:picLocks noChangeAspect="1"/>
          </p:cNvPicPr>
          <p:nvPr/>
        </p:nvPicPr>
        <p:blipFill>
          <a:blip r:embed="rId3"/>
          <a:srcRect l="129496" t="88785" r="-129496" b="-88785"/>
          <a:stretch/>
        </p:blipFill>
        <p:spPr>
          <a:xfrm>
            <a:off x="6583680" y="1737360"/>
            <a:ext cx="5084064" cy="195681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720840" y="37947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写真引用: CDC Public Health Image Library, ID #24415. Koplik spots due to measles infection.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 provider: CDC / Heinz F. Eichenwald, MD. Public domain.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583680" y="4480560"/>
            <a:ext cx="2084832" cy="896112"/>
          </a:xfrm>
          <a:prstGeom prst="roundRect">
            <a:avLst>
              <a:gd name="adj" fmla="val 510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2"/>
          <p:cNvSpPr/>
          <p:nvPr/>
        </p:nvSpPr>
        <p:spPr>
          <a:xfrm>
            <a:off x="7296912" y="47183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芒</a:t>
            </a:r>
            <a:endParaRPr lang="en-US" sz="2300" dirty="0"/>
          </a:p>
        </p:txBody>
      </p:sp>
      <p:sp>
        <p:nvSpPr>
          <p:cNvPr id="46" name="Text 43"/>
          <p:cNvSpPr/>
          <p:nvPr/>
        </p:nvSpPr>
        <p:spPr>
          <a:xfrm>
            <a:off x="7132320" y="5074920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はしか・のぎ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8796528" y="4480560"/>
            <a:ext cx="2871216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5240">
            <a:solidFill>
              <a:srgbClr val="D9E4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5"/>
          <p:cNvSpPr/>
          <p:nvPr/>
        </p:nvSpPr>
        <p:spPr>
          <a:xfrm>
            <a:off x="8979408" y="462686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「はしか」は、稲や麦の穂先の硬い毛「芒（はしか）」に触れたような痛がゆさ・発しんに由来するという説があります。医学用語では「麻しん／麻疹（ましん）」。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30352" y="6053328"/>
            <a:ext cx="11137392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7"/>
          <p:cNvSpPr/>
          <p:nvPr/>
        </p:nvSpPr>
        <p:spPr>
          <a:xfrm>
            <a:off x="530352" y="6181344"/>
            <a:ext cx="11137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B6F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厚生労働省「麻しん（はしか）」 / WHO “Measles” fact sheet / CDC “How Measles Spreads,” “Clinical Overview of Measles,” “Photos of Measles” / 日本感染症学会「麻しん（はしか）に注意」 / NCBI Taxonomy “Measles morbillivirus” / 語源由来辞典「麻疹／はしか」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</Words>
  <Application>Microsoft Office PowerPoint</Application>
  <PresentationFormat>ワイド画面</PresentationFormat>
  <Paragraphs>29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Umemura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ハシカ（麻しん）</dc:title>
  <dc:subject>ハシカ（麻しん）サマリー</dc:subject>
  <dc:creator>Umemura Clinic</dc:creator>
  <cp:lastModifiedBy>梅村　 隆輔</cp:lastModifiedBy>
  <cp:revision>2</cp:revision>
  <dcterms:created xsi:type="dcterms:W3CDTF">2026-05-13T06:33:07Z</dcterms:created>
  <dcterms:modified xsi:type="dcterms:W3CDTF">2026-05-13T06:46:46Z</dcterms:modified>
</cp:coreProperties>
</file>